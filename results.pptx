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81" r:id="rId3"/>
    <p:sldId id="275" r:id="rId4"/>
    <p:sldId id="410" r:id="rId5"/>
    <p:sldId id="411" r:id="rId6"/>
    <p:sldId id="412" r:id="rId7"/>
    <p:sldId id="413" r:id="rId8"/>
  </p:sldIdLst>
  <p:sldSz cx="12192000" cy="6858000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205" autoAdjust="0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330" y="1279128"/>
            <a:ext cx="6139815" cy="345364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27196-665D-4839-AAB8-9C074A5BCD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41982-BF85-423C-B165-E27DDE2FFA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/>
          <p:nvPr/>
        </p:nvSpPr>
        <p:spPr>
          <a:xfrm>
            <a:off x="1234017" y="890152"/>
            <a:ext cx="42233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8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1D planar shock (without damping)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17600" y="521970"/>
            <a:ext cx="9867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Outline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104265" y="541020"/>
            <a:ext cx="39376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ym typeface="+mn-ea"/>
              </a:rPr>
              <a:t>1D planar shock (without damping)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405" y="1689735"/>
            <a:ext cx="8758555" cy="38150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480" y="194310"/>
            <a:ext cx="2595880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65" y="1072515"/>
            <a:ext cx="6477000" cy="12623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145" y="2724150"/>
            <a:ext cx="3062605" cy="571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360" y="3451225"/>
            <a:ext cx="3512820" cy="8845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115" y="3620770"/>
            <a:ext cx="1113790" cy="4546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635" y="3648075"/>
            <a:ext cx="1343025" cy="400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7160" y="4448810"/>
            <a:ext cx="3957955" cy="68389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104265" y="541020"/>
            <a:ext cx="2232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Transport equation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124585" y="2825750"/>
            <a:ext cx="13055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upstream:</a:t>
            </a:r>
            <a:endParaRPr lang="en-US" sz="1400"/>
          </a:p>
        </p:txBody>
      </p:sp>
      <p:sp>
        <p:nvSpPr>
          <p:cNvPr id="12" name="Text Box 11"/>
          <p:cNvSpPr txBox="1"/>
          <p:nvPr/>
        </p:nvSpPr>
        <p:spPr>
          <a:xfrm>
            <a:off x="1104265" y="3702050"/>
            <a:ext cx="15328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downstream:</a:t>
            </a:r>
            <a:endParaRPr lang="en-US" sz="1400"/>
          </a:p>
        </p:txBody>
      </p:sp>
      <p:sp>
        <p:nvSpPr>
          <p:cNvPr id="13" name="Text Box 12"/>
          <p:cNvSpPr txBox="1"/>
          <p:nvPr/>
        </p:nvSpPr>
        <p:spPr>
          <a:xfrm>
            <a:off x="1104265" y="4637405"/>
            <a:ext cx="128270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at the TS:</a:t>
            </a:r>
            <a:endParaRPr lang="en-US" sz="14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0285" y="1072515"/>
            <a:ext cx="1285875" cy="50990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0285" y="1697990"/>
            <a:ext cx="1285875" cy="50990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184910" y="5572760"/>
            <a:ext cx="137795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timescales:</a:t>
            </a:r>
            <a:endParaRPr lang="en-US" sz="14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7160" y="5399405"/>
            <a:ext cx="6429375" cy="938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65" y="1075690"/>
            <a:ext cx="4924425" cy="7715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104265" y="541020"/>
            <a:ext cx="18116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Wave evolution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315" y="1900555"/>
            <a:ext cx="2943225" cy="714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30" y="2760980"/>
            <a:ext cx="3872230" cy="74295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5829935" y="2104390"/>
            <a:ext cx="16249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damping rate:</a:t>
            </a:r>
            <a:endParaRPr lang="en-US" sz="1400"/>
          </a:p>
        </p:txBody>
      </p:sp>
      <p:sp>
        <p:nvSpPr>
          <p:cNvPr id="5" name="Text Box 4"/>
          <p:cNvSpPr txBox="1"/>
          <p:nvPr/>
        </p:nvSpPr>
        <p:spPr>
          <a:xfrm>
            <a:off x="1169035" y="2978785"/>
            <a:ext cx="17564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wave spectrum:</a:t>
            </a:r>
            <a:endParaRPr lang="zh-CN" altLang="en-US" sz="1400">
              <a:ea typeface="SimSun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0" y="2002155"/>
            <a:ext cx="1376680" cy="6432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69035" y="2104390"/>
            <a:ext cx="167005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injection term:</a:t>
            </a:r>
            <a:endParaRPr lang="en-US" sz="1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030" y="3636010"/>
            <a:ext cx="2019300" cy="69088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169035" y="3827780"/>
            <a:ext cx="190182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altLang="zh-CN" sz="1400">
                <a:ea typeface="SimSun" charset="0"/>
              </a:rPr>
              <a:t>spatial diffusion: </a:t>
            </a:r>
            <a:endParaRPr lang="en-US" altLang="zh-CN" sz="1400">
              <a:ea typeface="SimSun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2160" y="2807970"/>
            <a:ext cx="1457325" cy="64770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7927975" y="2985770"/>
            <a:ext cx="168338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magnetic field:</a:t>
            </a:r>
            <a:endParaRPr lang="zh-CN" altLang="en-US" sz="1400">
              <a:ea typeface="SimSun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345" y="758825"/>
            <a:ext cx="5852160" cy="4389120"/>
          </a:xfrm>
          <a:prstGeom prst="rect">
            <a:avLst/>
          </a:prstGeom>
        </p:spPr>
      </p:pic>
      <p:pic>
        <p:nvPicPr>
          <p:cNvPr id="3" name="Picture 2" descr="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5" y="758825"/>
            <a:ext cx="5852160" cy="438912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880870" y="5279390"/>
            <a:ext cx="871664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At the shock, spectrum is slightly harder; at larger distance, flux of lower energy particles increases.</a:t>
            </a:r>
            <a:endParaRPr lang="en-US" sz="1400"/>
          </a:p>
          <a:p>
            <a:pPr marL="285750" indent="-285750" algn="l">
              <a:buFont typeface="Arial" panose="02080604020202020204" pitchFamily="34" charset="0"/>
              <a:buChar char="•"/>
            </a:pPr>
            <a:endParaRPr lang="en-US" sz="1400"/>
          </a:p>
          <a:p>
            <a:pPr marL="285750" indent="-285750" algn="l">
              <a:buFont typeface="Arial" panose="02080604020202020204" pitchFamily="34" charset="0"/>
              <a:buChar char="•"/>
            </a:pPr>
            <a:r>
              <a:rPr lang="en-US" sz="1400"/>
              <a:t>2nd aceleration has little influence on Emax.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ext Box 9"/>
          <p:cNvSpPr txBox="1"/>
          <p:nvPr/>
        </p:nvSpPr>
        <p:spPr>
          <a:xfrm>
            <a:off x="1104265" y="541020"/>
            <a:ext cx="34372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Possible algorithm (numerical)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169035" y="1353820"/>
            <a:ext cx="7825105" cy="24612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 algn="l">
              <a:buFont typeface="Arial" panose="02080604020202020204" pitchFamily="34" charset="0"/>
              <a:buAutoNum type="arabicPeriod"/>
            </a:pPr>
            <a:r>
              <a:rPr lang="en-US" sz="1400"/>
              <a:t>solve wave equation without damping;</a:t>
            </a: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r>
              <a:rPr lang="en-US" sz="1400"/>
              <a:t>calculate spatial and momentum diffusion coefficients;</a:t>
            </a: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r>
              <a:rPr lang="en-US" sz="1400"/>
              <a:t>assuming initial f0(p), solve transport equations upstream and downstream numerically;</a:t>
            </a: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r>
              <a:rPr lang="en-US" sz="1400"/>
              <a:t>update f0(p);</a:t>
            </a: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r>
              <a:rPr lang="en-US" sz="1400"/>
              <a:t>update diffusion coefficients;</a:t>
            </a: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endParaRPr lang="en-US" sz="1400"/>
          </a:p>
          <a:p>
            <a:pPr marL="342900" indent="-342900" algn="l">
              <a:buFont typeface="Arial" panose="02080604020202020204" pitchFamily="34" charset="0"/>
              <a:buAutoNum type="arabicPeriod"/>
            </a:pPr>
            <a:r>
              <a:rPr lang="en-US" sz="1400"/>
              <a:t>repeat 3-5 until convergence.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WPS Presentation</Application>
  <PresentationFormat>宽屏</PresentationFormat>
  <Paragraphs>46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DejaVu Sans</vt:lpstr>
      <vt:lpstr>SimSun</vt:lpstr>
      <vt:lpstr>等线</vt:lpstr>
      <vt:lpstr>C059</vt:lpstr>
      <vt:lpstr>Microsoft YaHei</vt:lpstr>
      <vt:lpstr>Droid Sans Fallback</vt:lpstr>
      <vt:lpstr>Arial Unicode MS</vt:lpstr>
      <vt:lpstr>等线 Light</vt:lpstr>
      <vt:lpstr>SimSun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Li</dc:creator>
  <cp:lastModifiedBy>ben</cp:lastModifiedBy>
  <cp:revision>750</cp:revision>
  <cp:lastPrinted>2025-10-12T20:27:49Z</cp:lastPrinted>
  <dcterms:created xsi:type="dcterms:W3CDTF">2025-10-12T20:27:49Z</dcterms:created>
  <dcterms:modified xsi:type="dcterms:W3CDTF">2025-10-12T20:27:49Z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